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933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291840"/>
            <a:ext cx="4937760" cy="4937760"/>
          </a:xfrm>
          <a:prstGeom prst="ellipse">
            <a:avLst/>
          </a:prstGeom>
          <a:solidFill>
            <a:srgbClr val="152A4E"/>
          </a:solidFill>
          <a:ln w="20320">
            <a:solidFill>
              <a:srgbClr val="2A46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291840" cy="3291840"/>
          </a:xfrm>
          <a:prstGeom prst="ellipse">
            <a:avLst/>
          </a:prstGeom>
          <a:solidFill>
            <a:srgbClr val="152A4E"/>
          </a:solidFill>
          <a:ln w="15240">
            <a:solidFill>
              <a:srgbClr val="3554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-2194560"/>
            <a:ext cx="4206240" cy="4206240"/>
          </a:xfrm>
          <a:prstGeom prst="ellipse">
            <a:avLst/>
          </a:prstGeom>
          <a:solidFill>
            <a:srgbClr val="152A4E"/>
          </a:solidFill>
          <a:ln w="17780">
            <a:solidFill>
              <a:srgbClr val="2A46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447" y="749629"/>
            <a:ext cx="2043953" cy="965139"/>
          </a:xfrm>
          <a:prstGeom prst="roundRect">
            <a:avLst>
              <a:gd name="adj" fmla="val 16279"/>
            </a:avLst>
          </a:prstGeom>
          <a:solidFill>
            <a:srgbClr val="1F3763"/>
          </a:solidFill>
          <a:ln w="12700">
            <a:solidFill>
              <a:srgbClr val="35548C"/>
            </a:solidFill>
            <a:prstDash val="solid"/>
          </a:ln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300" y="907048"/>
            <a:ext cx="1617306" cy="633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 4"/>
          <p:cNvSpPr/>
          <p:nvPr/>
        </p:nvSpPr>
        <p:spPr>
          <a:xfrm>
            <a:off x="1847088" y="932688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PİLATES EKİPMANLARI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DİA ERP Uygulama Durumu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B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Bilgilendirme Sunumu — Mevcut Durum, Tespitler ve Aksiyon Planı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F. Emrah Atabek  ·  ERP Sistem Yönetimi  ·  Temmuz 2026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96112" y="5614416"/>
            <a:ext cx="109728" cy="109728"/>
          </a:xfrm>
          <a:prstGeom prst="ellipse">
            <a:avLst/>
          </a:prstGeom>
          <a:solidFill>
            <a:srgbClr val="E8940A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Yönetici Özeti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 Özeti 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sadece Sipariş süreçlerinde olgun bir şekilde çalışıyor; </a:t>
            </a:r>
            <a:r>
              <a:rPr lang="en-US" sz="15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üretim–maliyet zinciri-operasyonel alanlar eksik veya doğru kullanılmıyor bu nedenle finansal raporların hiçbiri güvenilir ve doğru görünmüyor.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E7F5ED"/>
          </a:solidFill>
          <a:ln/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41248" y="353872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reçeteleri tamamlandı, fakat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eksik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24028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DF3E1"/>
          </a:solidFill>
          <a:ln/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4688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B975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%40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727448" y="353872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tanımları mevcut; fakat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ve süreler güncel değil, revize edilmeli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2240280"/>
            <a:ext cx="3593592" cy="2148840"/>
          </a:xfrm>
          <a:prstGeom prst="roundRect">
            <a:avLst>
              <a:gd name="adj" fmla="val 3830"/>
            </a:avLst>
          </a:prstGeom>
          <a:solidFill>
            <a:srgbClr val="FBEBEA"/>
          </a:solidFill>
          <a:ln/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0" y="24688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C9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%0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613648" y="353872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emirleri ve maliyet kartları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bugüne kadar hiç kullanılmamış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94415" cy="1600200"/>
          </a:xfrm>
          <a:prstGeom prst="roundRect">
            <a:avLst>
              <a:gd name="adj" fmla="val 5143"/>
            </a:avLst>
          </a:prstGeom>
          <a:solidFill>
            <a:srgbClr val="152A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212080"/>
            <a:ext cx="566928" cy="566928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358384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91640" y="4910328"/>
            <a:ext cx="967709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B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anlama geliyor?  </a:t>
            </a: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ana verisi (reçete, operasyon, rota, maliyet kartı) eksik olduğu için üretim maliyetleri sistemde oluşmuyor; fire, amortisman ve işçilik maliyetleri tamamen eksik bu nedenle muhasebe ve yevmiye kayıtları bu zincire dayandığından doğru değiller.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Durum — Tamamlanma Oranları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ana verisi bileşenlerinin sistemdeki hazırlık seviyesi (%)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Reçeteleri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63240" y="1536192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6" name="Shape 4"/>
          <p:cNvSpPr/>
          <p:nvPr/>
        </p:nvSpPr>
        <p:spPr>
          <a:xfrm>
            <a:off x="3063240" y="1536192"/>
            <a:ext cx="3364992" cy="256032"/>
          </a:xfrm>
          <a:prstGeom prst="roundRect">
            <a:avLst>
              <a:gd name="adj" fmla="val 50000"/>
            </a:avLst>
          </a:prstGeom>
          <a:solidFill>
            <a:srgbClr val="2E9E5F"/>
          </a:solidFill>
          <a:ln/>
        </p:spPr>
      </p:sp>
      <p:sp>
        <p:nvSpPr>
          <p:cNvPr id="7" name="Text 5"/>
          <p:cNvSpPr/>
          <p:nvPr/>
        </p:nvSpPr>
        <p:spPr>
          <a:xfrm>
            <a:off x="7379208" y="14813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Döviz Kurları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2103120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3063240" y="2103120"/>
            <a:ext cx="3785616" cy="256032"/>
          </a:xfrm>
          <a:prstGeom prst="roundRect">
            <a:avLst>
              <a:gd name="adj" fmla="val 50000"/>
            </a:avLst>
          </a:prstGeom>
          <a:solidFill>
            <a:srgbClr val="2E9E5F"/>
          </a:solidFill>
          <a:ln/>
        </p:spPr>
      </p:sp>
      <p:sp>
        <p:nvSpPr>
          <p:cNvPr id="11" name="Text 9"/>
          <p:cNvSpPr/>
          <p:nvPr/>
        </p:nvSpPr>
        <p:spPr>
          <a:xfrm>
            <a:off x="7379208" y="204825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Tanımları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2670048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14" name="Shape 12"/>
          <p:cNvSpPr/>
          <p:nvPr/>
        </p:nvSpPr>
        <p:spPr>
          <a:xfrm>
            <a:off x="3063240" y="2670048"/>
            <a:ext cx="2523744" cy="256032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/>
        </p:spPr>
      </p:sp>
      <p:sp>
        <p:nvSpPr>
          <p:cNvPr id="15" name="Text 13"/>
          <p:cNvSpPr/>
          <p:nvPr/>
        </p:nvSpPr>
        <p:spPr>
          <a:xfrm>
            <a:off x="7379208" y="26151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Tanımları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3236976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063240" y="3236976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8940A"/>
          </a:solidFill>
          <a:ln/>
        </p:spPr>
      </p:sp>
      <p:sp>
        <p:nvSpPr>
          <p:cNvPr id="19" name="Text 17"/>
          <p:cNvSpPr/>
          <p:nvPr/>
        </p:nvSpPr>
        <p:spPr>
          <a:xfrm>
            <a:off x="7379208" y="318211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İstasyon Tanımları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3803904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3240" y="380390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40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3749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Kartları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3240" y="4370832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063240" y="43708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403A"/>
          </a:solidFill>
          <a:ln/>
        </p:spPr>
      </p:sp>
      <p:sp>
        <p:nvSpPr>
          <p:cNvPr id="27" name="Text 25"/>
          <p:cNvSpPr/>
          <p:nvPr/>
        </p:nvSpPr>
        <p:spPr>
          <a:xfrm>
            <a:off x="7379208" y="43159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8828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Emri Kullanımı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63240" y="4937760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063240" y="49377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403A"/>
          </a:solidFill>
          <a:ln/>
        </p:spPr>
      </p:sp>
      <p:sp>
        <p:nvSpPr>
          <p:cNvPr id="31" name="Text 29"/>
          <p:cNvSpPr/>
          <p:nvPr/>
        </p:nvSpPr>
        <p:spPr>
          <a:xfrm>
            <a:off x="7379208" y="488289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54498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İşçilik ve Amortisman Maliyetleri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5504688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063240" y="550468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403A"/>
          </a:solidFill>
          <a:ln/>
        </p:spPr>
      </p:sp>
      <p:sp>
        <p:nvSpPr>
          <p:cNvPr id="35" name="Text 33"/>
          <p:cNvSpPr/>
          <p:nvPr/>
        </p:nvSpPr>
        <p:spPr>
          <a:xfrm>
            <a:off x="7379208" y="54498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12480" y="1481328"/>
            <a:ext cx="3246120" cy="3291840"/>
          </a:xfrm>
          <a:prstGeom prst="roundRect">
            <a:avLst>
              <a:gd name="adj" fmla="val 2535"/>
            </a:avLst>
          </a:prstGeom>
          <a:solidFill>
            <a:srgbClr val="152A4E"/>
          </a:solidFill>
          <a:ln/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86800" y="1755648"/>
            <a:ext cx="512064" cy="512064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1883664"/>
            <a:ext cx="256032" cy="25603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9326880" y="175564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B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okuma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705088" y="2441448"/>
            <a:ext cx="2660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</a:t>
            </a: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seviyede</a:t>
            </a:r>
            <a:r>
              <a:rPr lang="tr-TR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r>
              <a:rPr lang="en-US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</a:t>
            </a:r>
            <a:r>
              <a:rPr lang="en-US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(iş tanımı, maliyet kartı, iş emri </a:t>
            </a:r>
            <a:r>
              <a:rPr lang="en-US" sz="1250" dirty="0" err="1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işçilik</a:t>
            </a:r>
            <a:r>
              <a:rPr lang="tr-TR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satın alma siparişleri </a:t>
            </a:r>
            <a:r>
              <a:rPr lang="en-US" sz="1250" dirty="0" smtClean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zincirin maliyet üreten halkalarıdır.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devreye girmeden ürün başına gerçek maliyet ve doğru yevmiye kaydı üretilemez.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8412480" y="498348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DF3E1"/>
          </a:solidFill>
          <a:ln/>
        </p:spPr>
      </p:sp>
      <p:sp>
        <p:nvSpPr>
          <p:cNvPr id="42" name="Text 39"/>
          <p:cNvSpPr/>
          <p:nvPr/>
        </p:nvSpPr>
        <p:spPr>
          <a:xfrm>
            <a:off x="8668512" y="5093208"/>
            <a:ext cx="2734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: </a:t>
            </a: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Döviz kurlarında tek eksik: PLN </a:t>
            </a:r>
            <a:r>
              <a:rPr lang="en-US" sz="115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giriliyo</a:t>
            </a:r>
            <a:r>
              <a:rPr lang="tr-TR" sz="11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 bu ufak bir sorun kolayca Dia ile çözülebilir.</a:t>
            </a:r>
            <a:endParaRPr lang="en-US" sz="1150" dirty="0"/>
          </a:p>
        </p:txBody>
      </p:sp>
      <p:sp>
        <p:nvSpPr>
          <p:cNvPr id="43" name="Text 30"/>
          <p:cNvSpPr/>
          <p:nvPr/>
        </p:nvSpPr>
        <p:spPr>
          <a:xfrm>
            <a:off x="544284" y="595927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 smtClean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 Siparişleri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3058884" y="6014138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45" name="Shape 32"/>
          <p:cNvSpPr/>
          <p:nvPr/>
        </p:nvSpPr>
        <p:spPr>
          <a:xfrm>
            <a:off x="3058884" y="601413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403A"/>
          </a:solidFill>
          <a:ln/>
        </p:spPr>
      </p:sp>
      <p:sp>
        <p:nvSpPr>
          <p:cNvPr id="46" name="Text 33"/>
          <p:cNvSpPr/>
          <p:nvPr/>
        </p:nvSpPr>
        <p:spPr>
          <a:xfrm>
            <a:off x="7379208" y="595927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Detaylı Tespitler 1 — Üretim Ana Verisi ve Atölye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27632"/>
            <a:ext cx="566928" cy="566928"/>
          </a:xfrm>
          <a:prstGeom prst="ellipse">
            <a:avLst/>
          </a:prstGeom>
          <a:solidFill>
            <a:srgbClr val="2E9E5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1780703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276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reçeteleri (BOM)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tamamlandı, %20 eksik — eksik reçetelerde üretim maliyeti oluşmuyor.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79976" y="13716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36008" y="1627632"/>
            <a:ext cx="566928" cy="566928"/>
          </a:xfrm>
          <a:prstGeom prst="ellipse">
            <a:avLst/>
          </a:prstGeom>
          <a:solidFill>
            <a:srgbClr val="2F5FA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079" y="178070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0096" y="16276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tanımları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54296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Tanımlar mevcut ancak gerçek üretim akışını yansıtacak şekilde yeniden </a:t>
            </a:r>
            <a:r>
              <a:rPr lang="en-US" sz="12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düzenlenmeli</a:t>
            </a:r>
            <a:r>
              <a:rPr lang="en-US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CNC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tr-TR" sz="12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MarangozCilaneDikiş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Kesim vb.. 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11312" y="13716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67344" y="1627632"/>
            <a:ext cx="566928" cy="566928"/>
          </a:xfrm>
          <a:prstGeom prst="ellipse">
            <a:avLst/>
          </a:prstGeom>
          <a:solidFill>
            <a:srgbClr val="C9403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415" y="1780703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71432" y="16276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tanımları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85632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 hiç kullanılmıyor — operasyonlarla iş </a:t>
            </a:r>
            <a:r>
              <a:rPr lang="en-US" sz="12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adımları</a:t>
            </a: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tezgah tanımları </a:t>
            </a:r>
            <a:r>
              <a:rPr lang="en-US" sz="12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eşleşmiyor</a:t>
            </a: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E8940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43" y="4295303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1422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tanımları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22960" y="4846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 seviyesinde; operasyon sırası ve operasyon süreleri güncellenmeli.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79976" y="3886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36008" y="4142232"/>
            <a:ext cx="566928" cy="566928"/>
          </a:xfrm>
          <a:prstGeom prst="ellipse">
            <a:avLst/>
          </a:prstGeom>
          <a:solidFill>
            <a:srgbClr val="C9403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079" y="4295303"/>
            <a:ext cx="260787" cy="2607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0096" y="41422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emirleri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54296" y="4846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Operasyonda bugüne kadar hiç kullanılmamış — üretim sistem dışında yürüyor. Devreye </a:t>
            </a:r>
            <a:r>
              <a:rPr lang="en-US" sz="12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alınmalı</a:t>
            </a:r>
            <a:r>
              <a:rPr lang="en-US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11312" y="388620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67344" y="4142232"/>
            <a:ext cx="566928" cy="566928"/>
          </a:xfrm>
          <a:prstGeom prst="ellipse">
            <a:avLst/>
          </a:prstGeom>
          <a:solidFill>
            <a:srgbClr val="2F5FA8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0415" y="4295303"/>
            <a:ext cx="260787" cy="2607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71432" y="41422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 bilgisi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485632" y="4846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çalışanları dahil operatör kayıtları eksik — </a:t>
            </a:r>
            <a:r>
              <a:rPr lang="en-US" sz="12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gerçekleş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üretim</a:t>
            </a:r>
            <a:r>
              <a:rPr lang="en-US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işçilik</a:t>
            </a:r>
            <a:r>
              <a:rPr lang="tr-TR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performansı</a:t>
            </a:r>
            <a:r>
              <a:rPr lang="en-US" sz="12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takibi yapılamıyor.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Detaylı Tespitler 2 — Maliyet, Finans ve Dış Ticaret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13507" y="932692"/>
            <a:ext cx="11094415" cy="749808"/>
          </a:xfrm>
          <a:prstGeom prst="roundRect">
            <a:avLst>
              <a:gd name="adj" fmla="val 8537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2963" y="1069852"/>
            <a:ext cx="475488" cy="475488"/>
          </a:xfrm>
          <a:prstGeom prst="ellipse">
            <a:avLst/>
          </a:prstGeom>
          <a:solidFill>
            <a:srgbClr val="C940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45" y="1198234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7907" y="1024132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kartları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eksik ve hiç kullanılmıyor — işçilik/makine amortisman dağıtımı yapılamıyor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13507" y="1828804"/>
            <a:ext cx="11094415" cy="749808"/>
          </a:xfrm>
          <a:prstGeom prst="roundRect">
            <a:avLst>
              <a:gd name="adj" fmla="val 8537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2963" y="1965964"/>
            <a:ext cx="475488" cy="475488"/>
          </a:xfrm>
          <a:prstGeom prst="ellipse">
            <a:avLst/>
          </a:prstGeom>
          <a:solidFill>
            <a:srgbClr val="E8940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45" y="2094346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7907" y="192024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Döviz kurları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TCMB kurları otomatik ve tamam; yalnızca PLN manuel giriliyor — otomasyon için danışman desteği alınmalı. ( Basit bir sorun ama maliyeti etkiler 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13507" y="2724916"/>
            <a:ext cx="11094415" cy="749808"/>
          </a:xfrm>
          <a:prstGeom prst="roundRect">
            <a:avLst>
              <a:gd name="adj" fmla="val 8537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2963" y="2862076"/>
            <a:ext cx="475488" cy="475488"/>
          </a:xfrm>
          <a:prstGeom prst="ellipse">
            <a:avLst/>
          </a:prstGeom>
          <a:solidFill>
            <a:srgbClr val="2F5FA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45" y="299045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7907" y="2816356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Incoterms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Tanımlar sistemde mevcut; faturalarda ve ihracat kartlarında doğru kullanıldığı doğrulanmalı.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313507" y="3621028"/>
            <a:ext cx="11094415" cy="749808"/>
          </a:xfrm>
          <a:prstGeom prst="roundRect">
            <a:avLst>
              <a:gd name="adj" fmla="val 8537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2963" y="3758188"/>
            <a:ext cx="475488" cy="475488"/>
          </a:xfrm>
          <a:prstGeom prst="ellipse">
            <a:avLst/>
          </a:prstGeom>
          <a:solidFill>
            <a:srgbClr val="E8940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45" y="388657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7907" y="3712468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 ürünler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şekli </a:t>
            </a:r>
            <a:r>
              <a:rPr lang="en-US" sz="125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olabilir</a:t>
            </a:r>
            <a:r>
              <a:rPr lang="en-US" sz="12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desteğiyle doğru kurguya (varyant/opsiyon yapısı) geçilmeli veya </a:t>
            </a:r>
            <a:r>
              <a:rPr lang="en-US" sz="125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verilmeli</a:t>
            </a:r>
            <a:r>
              <a:rPr lang="tr-TR" sz="12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aksi halde reçete kombinasyonları sınırsız ve yönetilemez olur , </a:t>
            </a:r>
            <a:r>
              <a:rPr lang="tr-TR" sz="125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</a:t>
            </a:r>
            <a:r>
              <a:rPr lang="tr-TR" sz="12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dil ve süreç anlaşması gerekli ( Dinamik </a:t>
            </a:r>
            <a:r>
              <a:rPr lang="tr-TR" sz="125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Reçete’nin</a:t>
            </a:r>
            <a:r>
              <a:rPr lang="tr-TR" sz="125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nasıl yapıldığı çözülmeli ) İlk çözülmesi gereken darboğazlardan biri bu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313507" y="4517140"/>
            <a:ext cx="11094415" cy="1078992"/>
          </a:xfrm>
          <a:prstGeom prst="roundRect">
            <a:avLst>
              <a:gd name="adj" fmla="val 5932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2963" y="4818892"/>
            <a:ext cx="475488" cy="475488"/>
          </a:xfrm>
          <a:prstGeom prst="ellipse">
            <a:avLst/>
          </a:prstGeom>
          <a:solidFill>
            <a:srgbClr val="2F5FA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45" y="4947274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27907" y="4608580"/>
            <a:ext cx="100428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Navlun bedelleri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 doğru hesaplara ve doğru şekilde girildiği kontrol edilmeli (ihracat navlunu / üretim içi nakliye ayrımı  ( Üretim aşamasındaki Taşıma, Aliminyum Kaplama vb maliyetler Üretim maliyeti olmalı ve İhracat bedelleri ise Satış ve Dağıtım Giderlerine gitmeli.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313507" y="5742436"/>
            <a:ext cx="11094415" cy="749808"/>
          </a:xfrm>
          <a:prstGeom prst="roundRect">
            <a:avLst>
              <a:gd name="adj" fmla="val 8537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32963" y="5879596"/>
            <a:ext cx="475488" cy="475488"/>
          </a:xfrm>
          <a:prstGeom prst="ellipse">
            <a:avLst/>
          </a:prstGeom>
          <a:solidFill>
            <a:srgbClr val="2E9E5F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345" y="6007978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27907" y="5833876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 ve yevmiye kayıtları  —  </a:t>
            </a: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Yukarıdaki maddeler tamamlandıktan sonra entegrasyon fişleri ve yevmiye kayıtlarının doğruluğu uçtan uca kontrol edilmeli, Mali Müşavir Desteği gerekebilir.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Detaylı Tespitler 3 — Stok Yanlışlıkları ve Ekipman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513832" cy="2286000"/>
          </a:xfrm>
          <a:prstGeom prst="roundRect">
            <a:avLst>
              <a:gd name="adj" fmla="val 3600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9536" y="1773936"/>
            <a:ext cx="658368" cy="658368"/>
          </a:xfrm>
          <a:prstGeom prst="ellipse">
            <a:avLst/>
          </a:prstGeom>
          <a:solidFill>
            <a:srgbClr val="C940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95" y="1951695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73936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</a:t>
            </a:r>
            <a:r>
              <a:rPr lang="tr-TR" sz="1650" b="1" dirty="0" smtClean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Sanal Depolar </a:t>
            </a:r>
            <a:r>
              <a:rPr lang="en-US" sz="1650" b="1" dirty="0" err="1" smtClean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Durumları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96112" y="2606040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Ürünlerin Stok durumları </a:t>
            </a:r>
            <a:r>
              <a:rPr lang="en-US" sz="13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</a:t>
            </a:r>
            <a:r>
              <a:rPr lang="en-US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dolayısıyla yanlışlık yapılmasına </a:t>
            </a:r>
            <a:r>
              <a:rPr lang="en-US" sz="13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hatalı ve ürünler manuel sanal depolara taşınıyor ( yanlış yaklaşım 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18504" y="1463040"/>
            <a:ext cx="5513832" cy="2286000"/>
          </a:xfrm>
          <a:prstGeom prst="roundRect">
            <a:avLst>
              <a:gd name="adj" fmla="val 3600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773936"/>
            <a:ext cx="658368" cy="658368"/>
          </a:xfrm>
          <a:prstGeom prst="ellipse">
            <a:avLst/>
          </a:prstGeom>
          <a:solidFill>
            <a:srgbClr val="2F5FA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1951695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61504" y="1773936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Ekipman Eksikleri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665976" y="2606040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ve Atölye kullanıcıları için tablet alınması ve </a:t>
            </a:r>
            <a:r>
              <a:rPr lang="en-US" sz="13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Emirlerinin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atölyede</a:t>
            </a:r>
            <a:r>
              <a:rPr lang="en-US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yönetilmesi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tr-TR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İlerki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Fazlar ilk aşamada Kağıt ile ilerlenmeli 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41648"/>
            <a:ext cx="5513832" cy="2286000"/>
          </a:xfrm>
          <a:prstGeom prst="roundRect">
            <a:avLst>
              <a:gd name="adj" fmla="val 3600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9536" y="4352544"/>
            <a:ext cx="658368" cy="658368"/>
          </a:xfrm>
          <a:prstGeom prst="ellipse">
            <a:avLst/>
          </a:prstGeom>
          <a:solidFill>
            <a:srgbClr val="E8940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95" y="4530303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352544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Eksikleri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96112" y="5184648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içersinde ki süreç , rota ve süre ve reçetelerin hazırlanmasından </a:t>
            </a:r>
            <a:r>
              <a:rPr lang="en-US" sz="13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Süreç Mühendisi gerekli.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18504" y="4041648"/>
            <a:ext cx="5513832" cy="2286000"/>
          </a:xfrm>
          <a:prstGeom prst="roundRect">
            <a:avLst>
              <a:gd name="adj" fmla="val 3600"/>
            </a:avLst>
          </a:prstGeom>
          <a:solidFill>
            <a:srgbClr val="F5F7FB"/>
          </a:solidFill>
          <a:ln w="12700">
            <a:solidFill>
              <a:srgbClr val="DFE6F0"/>
            </a:solidFill>
            <a:prstDash val="solid"/>
          </a:ln>
          <a:effectLst>
            <a:outerShdw blurRad="88900" dist="25400" dir="5400000" algn="bl" rotWithShape="0">
              <a:srgbClr val="1B2B4B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29400" y="4352544"/>
            <a:ext cx="658368" cy="658368"/>
          </a:xfrm>
          <a:prstGeom prst="ellipse">
            <a:avLst/>
          </a:prstGeom>
          <a:solidFill>
            <a:srgbClr val="2E9E5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159" y="4530303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61504" y="4352544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Dökümantasyon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665976" y="5184648"/>
            <a:ext cx="4818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Dia kullanımı detaylı ekran </a:t>
            </a:r>
            <a:r>
              <a:rPr lang="en-US" sz="1300" dirty="0" err="1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görüntüleri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tr-TR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şirket özelinde</a:t>
            </a:r>
            <a:r>
              <a:rPr lang="en-US" sz="1300" dirty="0" smtClean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dökümante edilmeli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Aksiyon Planı — Önerilen Öncelik Sırası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63542"/>
              </p:ext>
            </p:extLst>
          </p:nvPr>
        </p:nvGraphicFramePr>
        <p:xfrm>
          <a:off x="548640" y="1325880"/>
          <a:ext cx="11091672" cy="4718304"/>
        </p:xfrm>
        <a:graphic>
          <a:graphicData uri="http://schemas.openxmlformats.org/drawingml/2006/table">
            <a:tbl>
              <a:tblPr/>
              <a:tblGrid>
                <a:gridCol w="731520"/>
                <a:gridCol w="7223760"/>
                <a:gridCol w="2011680"/>
                <a:gridCol w="1124712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Tahmini Süre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Ekibinin Oluşturulması + Süreç Mühendisi İşe Alım + Danışman Eğitimleri -- —  Eksik %20'lik BOM listesi çıkarılıp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kapatılır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öğrenilip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olarak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edilmeli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)</a:t>
                      </a:r>
                      <a:endParaRPr lang="en-US" sz="1100" i="1" u="sng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Planlama + </a:t>
                      </a:r>
                      <a:r>
                        <a:rPr lang="en-US" sz="1100" b="1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r>
                        <a:rPr lang="tr-TR" sz="1100" b="1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Yönetim + IK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Reçeteleri %100'e tamamla Pilot Ürünler için —  Eksik BOM listesi çıkarılıp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kapatılır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–Dinamik Reçete Süreci kesinleşmeli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 </a:t>
                      </a:r>
                      <a:r>
                        <a:rPr lang="en-US" sz="1100" i="1" u="sng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Doğru kullanım öğrenilip düzenli olarak kontrol edilmeli )</a:t>
                      </a:r>
                      <a:endParaRPr lang="en-US" sz="1100" i="1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Planlama + ERP +</a:t>
                      </a:r>
                      <a:r>
                        <a:rPr lang="en-US" sz="1100" b="1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Süreç Mühendisi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Operasyon + iş tanımlarını yeniden kur  —  Gerçek atölye akışına göre; iş tanımları operasyonlara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bağlanır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öğrenilip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olarak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edilmeli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Süreç Mühendisi </a:t>
                      </a:r>
                      <a:r>
                        <a:rPr lang="tr-TR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+ 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Rotaları güncelle  —  Operasyon sırası ve süreleri atölye şefiyle birlikte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doğrulanır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öğrenilip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olarak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edilmeli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Süreç Mühendisi </a:t>
                      </a:r>
                      <a:r>
                        <a:rPr lang="tr-TR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+ ERP + Atölye Müdürü</a:t>
                      </a:r>
                      <a:endParaRPr lang="en-US" sz="110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tr-TR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 kartlarını kullanımı—  İşçilik/Makine amortisman kartları gerçek saat maliyetleriyle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sisteme</a:t>
                      </a: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girilmeli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öğrenilip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olarak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edilmeli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Süreç Mühendisi </a:t>
                      </a:r>
                      <a:r>
                        <a:rPr lang="tr-TR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+ ERP + Atölye Müdürü</a:t>
                      </a:r>
                      <a:endParaRPr lang="en-US" sz="110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tr-TR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Operatörleri tanımla, iş emrini devreye alınması ve Tablet kullanılması -- Depo çalışanları dahil operatör kayıtları; pilot ürünle iş emri disiplinine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geçiş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Danışman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Desteği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</a:t>
                      </a:r>
                      <a:r>
                        <a:rPr lang="tr-TR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,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öğrenilip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düzenli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olarak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i="1" u="sng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edilmeli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Süreç</a:t>
                      </a:r>
                      <a:r>
                        <a:rPr lang="en-US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100" b="1" dirty="0" err="1" smtClean="0">
                          <a:latin typeface="Calibri" charset="0"/>
                          <a:ea typeface="Calibri" charset="0"/>
                          <a:cs typeface="Calibri" charset="0"/>
                        </a:rPr>
                        <a:t>Mühendisi</a:t>
                      </a:r>
                      <a:r>
                        <a:rPr lang="en-US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+ ERP</a:t>
                      </a:r>
                      <a:r>
                        <a:rPr lang="tr-TR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+ Atölye Müdürü</a:t>
                      </a:r>
                      <a:endParaRPr lang="en-US" sz="110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tr-TR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Incoterms + Navlun doğrulaması  —  İhracat kartları, faturalar ve navlun </a:t>
                      </a:r>
                      <a:r>
                        <a:rPr lang="en-US" sz="1100" dirty="0" err="1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girişlerinin</a:t>
                      </a:r>
                      <a:r>
                        <a:rPr lang="en-US" sz="11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denetl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100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nmesi</a:t>
                      </a:r>
                      <a:r>
                        <a:rPr lang="en-US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br>
                        <a:rPr lang="tr-TR" sz="11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Not: </a:t>
                      </a:r>
                      <a:r>
                        <a:rPr lang="en-US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tr-TR" sz="1100" i="1" u="sng" baseline="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tr-TR" sz="1100" i="1" u="sng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kontrol gerekli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Satış</a:t>
                      </a:r>
                      <a:r>
                        <a:rPr lang="tr-TR" sz="110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+</a:t>
                      </a:r>
                      <a:r>
                        <a:rPr lang="tr-TR" sz="1100" baseline="0" dirty="0" smtClean="0">
                          <a:latin typeface="Calibri" charset="0"/>
                          <a:ea typeface="Calibri" charset="0"/>
                          <a:cs typeface="Calibri" charset="0"/>
                        </a:rPr>
                        <a:t> 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r-TR" sz="11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Hafta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Aksiyon Planı — Önerilen Öncelik Sırası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950594"/>
              </p:ext>
            </p:extLst>
          </p:nvPr>
        </p:nvGraphicFramePr>
        <p:xfrm>
          <a:off x="548640" y="1325880"/>
          <a:ext cx="11091672" cy="3200400"/>
        </p:xfrm>
        <a:graphic>
          <a:graphicData uri="http://schemas.openxmlformats.org/drawingml/2006/table">
            <a:tbl>
              <a:tblPr/>
              <a:tblGrid>
                <a:gridCol w="731520"/>
                <a:gridCol w="7223760"/>
                <a:gridCol w="2011680"/>
                <a:gridCol w="1124712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Tahmini Süre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Muhasebe &amp; yevmiye kontrolü  —  Zincir tamamlandıktan sonra entegrasyon fişleri uçtan uca doğrulanır — kapanış kapısı.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200" b="1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Muhasebe</a:t>
                      </a:r>
                      <a:r>
                        <a:rPr lang="en-US" sz="12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Hafta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Satın Alma Siparişi Yok ve Alım Faturası ve İrsaliye Eşleşmesi yapılamıyor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Planlama</a:t>
                      </a:r>
                      <a:r>
                        <a:rPr lang="en-US" sz="12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ERP +Süreç Mühendisi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Hafta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Fire’ler Sisteme Girilmiyor ve Maliyetler yanlış çıkıyor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+</a:t>
                      </a:r>
                      <a:r>
                        <a:rPr lang="en-US" sz="1200" b="1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Süreç</a:t>
                      </a:r>
                      <a:r>
                        <a:rPr lang="en-US" sz="1200" b="1" dirty="0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 err="1" smtClean="0">
                          <a:solidFill>
                            <a:srgbClr val="3A4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Mühendisi</a:t>
                      </a:r>
                      <a:endParaRPr lang="en-US" sz="1200" b="1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Hafta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 gridSpan="3"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Tahmini Süre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tr-TR" sz="13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r>
                        <a:rPr lang="en-US" sz="1300" b="1" dirty="0" smtClean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B975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Yönetimden Öncelikle Beklenenler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F3763"/>
          </a:solidFill>
          <a:ln w="12700">
            <a:solidFill>
              <a:srgbClr val="3554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99032"/>
            <a:ext cx="566928" cy="566928"/>
          </a:xfrm>
          <a:prstGeom prst="ellipse">
            <a:avLst/>
          </a:prstGeom>
          <a:solidFill>
            <a:srgbClr val="2A467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540764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1399032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Ekibi Oluşturulması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50392" y="2057400"/>
            <a:ext cx="49103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Satış, Üretim ve Planlama, Atölye Şefi, Finans , Satış </a:t>
            </a:r>
            <a:r>
              <a:rPr lang="en-US" sz="1150" dirty="0" err="1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</a:t>
            </a:r>
            <a:r>
              <a:rPr lang="tr-TR" sz="1150" dirty="0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Satın Alma</a:t>
            </a:r>
            <a:r>
              <a:rPr lang="en-US" sz="1150" dirty="0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userlarının projeye dahil edilmesi + süreç mühendisinin işe alınması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18504" y="114300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F3763"/>
          </a:solidFill>
          <a:ln w="12700">
            <a:solidFill>
              <a:srgbClr val="3554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92824" y="1399032"/>
            <a:ext cx="566928" cy="566928"/>
          </a:xfrm>
          <a:prstGeom prst="ellipse">
            <a:avLst/>
          </a:prstGeom>
          <a:solidFill>
            <a:srgbClr val="2A467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154076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6056" y="1399032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Desteği Alınması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620256" y="2057400"/>
            <a:ext cx="49103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Belirlenen konular hakkında doğru kullanım eğitimi alınıp , süreçler bu yönde güncellenmeli ve Dia </a:t>
            </a:r>
            <a:r>
              <a:rPr lang="en-US" sz="1150" dirty="0" err="1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kullanımının</a:t>
            </a: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yaygınlaşması</a:t>
            </a:r>
            <a:r>
              <a:rPr lang="tr-TR" sz="1150" dirty="0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Şirket içi kullanımın paralel olarak </a:t>
            </a:r>
            <a:r>
              <a:rPr lang="tr-TR" sz="1150" dirty="0" err="1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dökümante</a:t>
            </a:r>
            <a:r>
              <a:rPr lang="tr-TR" sz="1150" dirty="0" smtClean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edilmesi gerekli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64992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F3763"/>
          </a:solidFill>
          <a:ln w="12700">
            <a:solidFill>
              <a:srgbClr val="35548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3621024"/>
            <a:ext cx="566928" cy="566928"/>
          </a:xfrm>
          <a:prstGeom prst="ellipse">
            <a:avLst/>
          </a:prstGeom>
          <a:solidFill>
            <a:srgbClr val="2A467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3762756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36192" y="3621024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ilerleme takibi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50392" y="4279392"/>
            <a:ext cx="49103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raporların sistem içersin de oluşturulup düzenli takibi ve Proje Board ekibine düzenli sunulması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18504" y="3364992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F3763"/>
          </a:solidFill>
          <a:ln w="12700">
            <a:solidFill>
              <a:srgbClr val="35548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92824" y="3621024"/>
            <a:ext cx="566928" cy="566928"/>
          </a:xfrm>
          <a:prstGeom prst="ellipse">
            <a:avLst/>
          </a:prstGeom>
          <a:solidFill>
            <a:srgbClr val="2A467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556" y="3762756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06056" y="3621024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 ürünün seçimi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620256" y="4279392"/>
            <a:ext cx="49103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pilot 10 ürün seçilip sürecin uçtan uca çalıştığından emin olmak ve sistem ve yapıya aşinalığın artırılması ardından önem sırasına göre doğru yaklaşımın diğer ürünlere yansıtılması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486400"/>
            <a:ext cx="11094415" cy="1024128"/>
          </a:xfrm>
          <a:prstGeom prst="roundRect">
            <a:avLst>
              <a:gd name="adj" fmla="val 8036"/>
            </a:avLst>
          </a:prstGeom>
          <a:solidFill>
            <a:srgbClr val="20396A"/>
          </a:solidFill>
          <a:ln w="15240">
            <a:solidFill>
              <a:srgbClr val="E8940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2960" y="5742432"/>
            <a:ext cx="512064" cy="512064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" y="5875020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72768" y="5614416"/>
            <a:ext cx="98142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B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tamamlandığın da ulaşılacak hedef: </a:t>
            </a:r>
            <a:r>
              <a:rPr lang="tr-TR" sz="13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50" dirty="0" err="1" smtClean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r>
              <a:rPr lang="en-US" sz="1350" dirty="0" smtClean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gerçek maliyeti, doğru yevmiye kaydı ve güvenilir kârlılık raporu — Tüm listelenen süreçler için tek </a:t>
            </a:r>
            <a:r>
              <a:rPr lang="en-US" sz="1350" dirty="0" err="1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r>
              <a:rPr lang="en-US" sz="1350" dirty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smtClean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DİA</a:t>
            </a:r>
            <a:r>
              <a:rPr lang="tr-TR" sz="1350" dirty="0" smtClean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ERP olmalı</a:t>
            </a:r>
            <a:r>
              <a:rPr lang="en-US" sz="1350" dirty="0" smtClean="0">
                <a:solidFill>
                  <a:srgbClr val="E3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1050</Words>
  <Application>Microsoft Office PowerPoint</Application>
  <PresentationFormat>Geniş ekran</PresentationFormat>
  <Paragraphs>142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PİLATES — DİA ERP Uygulama Durumu</dc:title>
  <dc:subject>PptxGenJS Presentation</dc:subject>
  <dc:creator>F. Emrah Atabek</dc:creator>
  <cp:lastModifiedBy>Microsoft hesabı</cp:lastModifiedBy>
  <cp:revision>7</cp:revision>
  <dcterms:created xsi:type="dcterms:W3CDTF">2026-07-07T13:23:52Z</dcterms:created>
  <dcterms:modified xsi:type="dcterms:W3CDTF">2026-07-08T10:41:19Z</dcterms:modified>
</cp:coreProperties>
</file>